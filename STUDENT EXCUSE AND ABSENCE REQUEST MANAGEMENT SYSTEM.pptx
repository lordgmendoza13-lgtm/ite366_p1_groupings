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59"/>
  </p:notesMasterIdLst>
  <p:sldIdLst>
    <p:sldId id="261" r:id="rId5"/>
    <p:sldId id="262" r:id="rId6"/>
    <p:sldId id="263" r:id="rId7"/>
    <p:sldId id="268" r:id="rId8"/>
    <p:sldId id="264" r:id="rId9"/>
    <p:sldId id="269" r:id="rId10"/>
    <p:sldId id="265" r:id="rId11"/>
    <p:sldId id="266" r:id="rId12"/>
    <p:sldId id="270" r:id="rId13"/>
    <p:sldId id="267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93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6" r:id="rId30"/>
    <p:sldId id="285" r:id="rId31"/>
    <p:sldId id="287" r:id="rId32"/>
    <p:sldId id="288" r:id="rId33"/>
    <p:sldId id="289" r:id="rId34"/>
    <p:sldId id="290" r:id="rId35"/>
    <p:sldId id="291" r:id="rId36"/>
    <p:sldId id="294" r:id="rId37"/>
    <p:sldId id="295" r:id="rId38"/>
    <p:sldId id="296" r:id="rId39"/>
    <p:sldId id="304" r:id="rId40"/>
    <p:sldId id="297" r:id="rId41"/>
    <p:sldId id="299" r:id="rId42"/>
    <p:sldId id="300" r:id="rId43"/>
    <p:sldId id="301" r:id="rId44"/>
    <p:sldId id="302" r:id="rId45"/>
    <p:sldId id="303" r:id="rId46"/>
    <p:sldId id="298" r:id="rId47"/>
    <p:sldId id="305" r:id="rId48"/>
    <p:sldId id="306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292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75990-A4A1-4DDE-AA8D-73E60A452DD0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5CD8D-B1D9-4658-A4F0-38CA8D83ED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98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08C238F-B856-42A4-BC32-194DCC130D5F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1CB5-A088-4DB4-8A5C-B084F9B2B528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1328-ADC8-435B-8F5C-D339CD9DD487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56410-64C5-4311-8359-FDA6B61ABBAE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8B01E-6E1B-4AFC-A690-27C447C9486E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2F3D2-503A-4E49-99AD-125A054E178F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6207-223C-48E4-AE22-548ABC801447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41151-B38C-4230-91F0-8A3BB69A056C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EA29-EE45-46F5-8084-6929433FA14E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2680-3826-48D8-A0B9-F293E3A564D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F02A-B435-4587-AE10-6A02865845F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27A1-9C29-4918-BA16-87149545F673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E601-4D27-49FF-B099-2799466F7EDA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2469-603F-4B0F-8F23-6B2B143D5424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781E0-05FC-475E-A14D-85EF9B55E67B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D02C8-8352-4A2E-A3CD-139A8583C932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80581-4B77-41E9-BE55-C3C9C3900A2A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7B94D-50C4-4558-AAA1-857DDB1A21EF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AD579530-1077-46B3-BD5C-81BB270A1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78" name="Rectangle 77">
              <a:extLst>
                <a:ext uri="{FF2B5EF4-FFF2-40B4-BE49-F238E27FC236}">
                  <a16:creationId xmlns:a16="http://schemas.microsoft.com/office/drawing/2014/main" id="{ACBB106A-B366-4349-B59F-E8FBDADD8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9" name="Picture 2">
              <a:extLst>
                <a:ext uri="{FF2B5EF4-FFF2-40B4-BE49-F238E27FC236}">
                  <a16:creationId xmlns:a16="http://schemas.microsoft.com/office/drawing/2014/main" id="{113FC03B-24E4-4A3F-9626-CC7F6356B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525AE681-57C0-4C44-9E88-A16CDA016EB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0000"/>
          </a:blip>
          <a:srcRect t="6504" b="9202"/>
          <a:stretch/>
        </p:blipFill>
        <p:spPr>
          <a:xfrm>
            <a:off x="-14086" y="31489"/>
            <a:ext cx="12188389" cy="6857990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83F79A5F-63B5-4802-B39B-BF0F89DDD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82" name="Round Diagonal Corner Rectangle 7">
              <a:extLst>
                <a:ext uri="{FF2B5EF4-FFF2-40B4-BE49-F238E27FC236}">
                  <a16:creationId xmlns:a16="http://schemas.microsoft.com/office/drawing/2014/main" id="{00D14BF7-A799-4EDA-8C19-CED0B8EC5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AF292344-73C8-4E53-85C0-8CDB23EB5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84" name="Freeform 32">
                <a:extLst>
                  <a:ext uri="{FF2B5EF4-FFF2-40B4-BE49-F238E27FC236}">
                    <a16:creationId xmlns:a16="http://schemas.microsoft.com/office/drawing/2014/main" id="{4781E776-A0A7-4FB6-958B-8389BBA569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5" name="Freeform 33">
                <a:extLst>
                  <a:ext uri="{FF2B5EF4-FFF2-40B4-BE49-F238E27FC236}">
                    <a16:creationId xmlns:a16="http://schemas.microsoft.com/office/drawing/2014/main" id="{0F004D56-F177-45BC-8965-B72DB88A0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6" name="Freeform 34">
                <a:extLst>
                  <a:ext uri="{FF2B5EF4-FFF2-40B4-BE49-F238E27FC236}">
                    <a16:creationId xmlns:a16="http://schemas.microsoft.com/office/drawing/2014/main" id="{5F2F1F83-817B-4678-B0AE-8FFDC49FC8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7" name="Freeform 37">
                <a:extLst>
                  <a:ext uri="{FF2B5EF4-FFF2-40B4-BE49-F238E27FC236}">
                    <a16:creationId xmlns:a16="http://schemas.microsoft.com/office/drawing/2014/main" id="{F908EB47-32F4-4E82-BF56-FD25BB0747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8" name="Freeform 35">
                <a:extLst>
                  <a:ext uri="{FF2B5EF4-FFF2-40B4-BE49-F238E27FC236}">
                    <a16:creationId xmlns:a16="http://schemas.microsoft.com/office/drawing/2014/main" id="{0966000D-B975-4E8A-9BF2-EACF216405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9" name="Freeform 36">
                <a:extLst>
                  <a:ext uri="{FF2B5EF4-FFF2-40B4-BE49-F238E27FC236}">
                    <a16:creationId xmlns:a16="http://schemas.microsoft.com/office/drawing/2014/main" id="{A9554499-6796-4AEE-B012-34A5B9A585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0" name="Freeform 38">
                <a:extLst>
                  <a:ext uri="{FF2B5EF4-FFF2-40B4-BE49-F238E27FC236}">
                    <a16:creationId xmlns:a16="http://schemas.microsoft.com/office/drawing/2014/main" id="{9DD40864-34BD-491F-B591-180E7B32C1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1" name="Freeform 39">
                <a:extLst>
                  <a:ext uri="{FF2B5EF4-FFF2-40B4-BE49-F238E27FC236}">
                    <a16:creationId xmlns:a16="http://schemas.microsoft.com/office/drawing/2014/main" id="{2623F54C-4373-4D30-90DB-3129BDDF54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2" name="Freeform 40">
                <a:extLst>
                  <a:ext uri="{FF2B5EF4-FFF2-40B4-BE49-F238E27FC236}">
                    <a16:creationId xmlns:a16="http://schemas.microsoft.com/office/drawing/2014/main" id="{1FF42884-D4B2-462F-9FA7-4FA8925322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3" name="Rectangle 41">
                <a:extLst>
                  <a:ext uri="{FF2B5EF4-FFF2-40B4-BE49-F238E27FC236}">
                    <a16:creationId xmlns:a16="http://schemas.microsoft.com/office/drawing/2014/main" id="{27F4D4BA-37F5-4D54-BDFF-733F621D5D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4" name="Freeform 32">
                <a:extLst>
                  <a:ext uri="{FF2B5EF4-FFF2-40B4-BE49-F238E27FC236}">
                    <a16:creationId xmlns:a16="http://schemas.microsoft.com/office/drawing/2014/main" id="{29E4A0E5-0441-4563-A947-12A5781105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5" name="Freeform 33">
                <a:extLst>
                  <a:ext uri="{FF2B5EF4-FFF2-40B4-BE49-F238E27FC236}">
                    <a16:creationId xmlns:a16="http://schemas.microsoft.com/office/drawing/2014/main" id="{4A8D89B4-AD1B-410A-870B-1042E075A0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6" name="Freeform 34">
                <a:extLst>
                  <a:ext uri="{FF2B5EF4-FFF2-40B4-BE49-F238E27FC236}">
                    <a16:creationId xmlns:a16="http://schemas.microsoft.com/office/drawing/2014/main" id="{DFC54570-9F45-44E6-AC94-4B3192D44B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7" name="Freeform 37">
                <a:extLst>
                  <a:ext uri="{FF2B5EF4-FFF2-40B4-BE49-F238E27FC236}">
                    <a16:creationId xmlns:a16="http://schemas.microsoft.com/office/drawing/2014/main" id="{A976F76C-4BBB-4CD4-9270-5E4E8802BF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8" name="Freeform 35">
                <a:extLst>
                  <a:ext uri="{FF2B5EF4-FFF2-40B4-BE49-F238E27FC236}">
                    <a16:creationId xmlns:a16="http://schemas.microsoft.com/office/drawing/2014/main" id="{06081E5F-35E2-4E9E-A0DA-9E2F769C4C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9" name="Freeform 36">
                <a:extLst>
                  <a:ext uri="{FF2B5EF4-FFF2-40B4-BE49-F238E27FC236}">
                    <a16:creationId xmlns:a16="http://schemas.microsoft.com/office/drawing/2014/main" id="{7B7B4F78-1391-433D-AAE5-0FA8B8EE18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0" name="Freeform 38">
                <a:extLst>
                  <a:ext uri="{FF2B5EF4-FFF2-40B4-BE49-F238E27FC236}">
                    <a16:creationId xmlns:a16="http://schemas.microsoft.com/office/drawing/2014/main" id="{EF63F42B-29ED-4285-99D1-5FA657DA92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1" name="Freeform 39">
                <a:extLst>
                  <a:ext uri="{FF2B5EF4-FFF2-40B4-BE49-F238E27FC236}">
                    <a16:creationId xmlns:a16="http://schemas.microsoft.com/office/drawing/2014/main" id="{EB7A6053-A7CF-4785-B396-6F70D6EBE9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2" name="Freeform 40">
                <a:extLst>
                  <a:ext uri="{FF2B5EF4-FFF2-40B4-BE49-F238E27FC236}">
                    <a16:creationId xmlns:a16="http://schemas.microsoft.com/office/drawing/2014/main" id="{E6337518-A10D-47A5-BD86-6D1F3FAF3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3" name="Rectangle 41">
                <a:extLst>
                  <a:ext uri="{FF2B5EF4-FFF2-40B4-BE49-F238E27FC236}">
                    <a16:creationId xmlns:a16="http://schemas.microsoft.com/office/drawing/2014/main" id="{7591C37F-6498-4992-992D-D413A84752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476017-D224-40AE-B921-675254501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3597" y="2776536"/>
            <a:ext cx="7163239" cy="136789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STUDENT EXCUSE AND ABSENCE REQUEST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013D4-CBD9-4FC1-AF91-2301A7044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5192" y="4228303"/>
            <a:ext cx="6857999" cy="95302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 PROJECT PROPOSAL</a:t>
            </a:r>
          </a:p>
        </p:txBody>
      </p:sp>
    </p:spTree>
    <p:extLst>
      <p:ext uri="{BB962C8B-B14F-4D97-AF65-F5344CB8AC3E}">
        <p14:creationId xmlns:p14="http://schemas.microsoft.com/office/powerpoint/2010/main" val="1337192207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DD000-3F4F-4FC5-A081-3B13F76026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4584" y="-567918"/>
            <a:ext cx="9640661" cy="216448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STUDENT EXCUSE AND ABSENCE REQUEST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1E0B01-F9E4-47B0-A0F8-4639A18C4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2367" y="2915513"/>
            <a:ext cx="8791575" cy="2851013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Project Documentation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PHINMA </a:t>
            </a:r>
            <a:r>
              <a:rPr lang="en-US" sz="2800" dirty="0" err="1">
                <a:solidFill>
                  <a:schemeClr val="bg1"/>
                </a:solidFill>
              </a:rPr>
              <a:t>Araullo</a:t>
            </a:r>
            <a:r>
              <a:rPr lang="en-US" sz="2800" dirty="0">
                <a:solidFill>
                  <a:schemeClr val="bg1"/>
                </a:solidFill>
              </a:rPr>
              <a:t> University – South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College of Information Technology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Bachelor of Science in Information Technology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S.Y. 2026–2027 | First Semester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ITE 302 – Information Assurance and Security 1 </a:t>
            </a:r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B2E16-DEE9-4DE3-BA5E-7FA7E1890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8662" y="263957"/>
            <a:ext cx="1328057" cy="13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6673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53191-5484-4C3D-8E5D-6353E0CC8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PROJECT TEAM: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A0A0B-DCE0-4B62-9AC9-155441BB6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DEVELOPMENT TEAM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Bana, Ryu Julian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Barrera, </a:t>
            </a:r>
            <a:r>
              <a:rPr lang="en-US" dirty="0" err="1">
                <a:solidFill>
                  <a:schemeClr val="bg1"/>
                </a:solidFill>
              </a:rPr>
              <a:t>Mhike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Bartolome, </a:t>
            </a:r>
            <a:r>
              <a:rPr lang="en-US" dirty="0" err="1">
                <a:solidFill>
                  <a:schemeClr val="bg1"/>
                </a:solidFill>
              </a:rPr>
              <a:t>Jaspher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Dela Paz, Prince Lance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Esqueho</a:t>
            </a:r>
            <a:r>
              <a:rPr lang="en-US" dirty="0">
                <a:solidFill>
                  <a:schemeClr val="bg1"/>
                </a:solidFill>
              </a:rPr>
              <a:t>, Sean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Mendoza, Lord 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15979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265B8-E13A-4424-9F2A-1ACD3769D7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PROJECT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D136C7-EF23-49A5-8DCF-28AB4B2FDD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932850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9B43D-91CA-4714-A9F2-DE85B733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D0E92-C522-4A30-B40F-A23D90516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269846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The </a:t>
            </a:r>
            <a:r>
              <a:rPr lang="en-US" sz="2800" b="1" dirty="0">
                <a:solidFill>
                  <a:schemeClr val="bg1"/>
                </a:solidFill>
              </a:rPr>
              <a:t>Student Excuse and Absence Request Management System</a:t>
            </a:r>
            <a:r>
              <a:rPr lang="en-US" sz="2800" dirty="0">
                <a:solidFill>
                  <a:schemeClr val="bg1"/>
                </a:solidFill>
              </a:rPr>
              <a:t> is a proposed digital application designed to manage student excuse and absence requests.</a:t>
            </a:r>
          </a:p>
          <a:p>
            <a:r>
              <a:rPr lang="en-US" sz="2800" dirty="0">
                <a:solidFill>
                  <a:schemeClr val="bg1"/>
                </a:solidFill>
              </a:rPr>
              <a:t>Students can submit their requests through the system, while authorized users can review, approve, or deny them.</a:t>
            </a:r>
          </a:p>
          <a:p>
            <a:r>
              <a:rPr lang="en-US" sz="2800" dirty="0">
                <a:solidFill>
                  <a:schemeClr val="bg1"/>
                </a:solidFill>
              </a:rPr>
              <a:t>The system also keeps digital records of requests, making them easier to search, monitor, and manage while protecting student information.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269816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AA3E4-5CE2-4AE6-85E2-C3470325A7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PROJECT DESCRIPTION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BEA32-D594-4D50-9D6C-762D81E723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4427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DF2B3-F3A6-4A7E-AF55-511D6C33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PROJECT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AD603-6603-4B59-A73B-86C7537E9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The project aims to improve the traditional process of submitting excuse and absence requests. Instead of relying mainly on paper forms, students can submit their requests digitally.</a:t>
            </a:r>
          </a:p>
        </p:txBody>
      </p:sp>
    </p:spTree>
    <p:extLst>
      <p:ext uri="{BB962C8B-B14F-4D97-AF65-F5344CB8AC3E}">
        <p14:creationId xmlns:p14="http://schemas.microsoft.com/office/powerpoint/2010/main" val="1132034342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3756E-C824-4569-9525-30624E248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SYSTEM DESIGN TO?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6BE3A-ED53-449B-A200-45E159945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23598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Reduce paperwork</a:t>
            </a:r>
          </a:p>
          <a:p>
            <a:r>
              <a:rPr lang="en-US" sz="3200" dirty="0">
                <a:solidFill>
                  <a:schemeClr val="bg1"/>
                </a:solidFill>
              </a:rPr>
              <a:t>Make submissions easier and faster</a:t>
            </a:r>
          </a:p>
          <a:p>
            <a:r>
              <a:rPr lang="en-US" sz="3200" dirty="0">
                <a:solidFill>
                  <a:schemeClr val="bg1"/>
                </a:solidFill>
              </a:rPr>
              <a:t>Help school personnel manage requests</a:t>
            </a:r>
          </a:p>
          <a:p>
            <a:r>
              <a:rPr lang="en-US" sz="3200" dirty="0">
                <a:solidFill>
                  <a:schemeClr val="bg1"/>
                </a:solidFill>
              </a:rPr>
              <a:t>Reduce lost documents</a:t>
            </a:r>
          </a:p>
          <a:p>
            <a:r>
              <a:rPr lang="en-US" sz="3200" dirty="0">
                <a:solidFill>
                  <a:schemeClr val="bg1"/>
                </a:solidFill>
              </a:rPr>
              <a:t>Reduce processing delays</a:t>
            </a:r>
          </a:p>
          <a:p>
            <a:r>
              <a:rPr lang="en-US" sz="3200" dirty="0">
                <a:solidFill>
                  <a:schemeClr val="bg1"/>
                </a:solidFill>
              </a:rPr>
              <a:t>Keep absence records organized and secure</a:t>
            </a:r>
          </a:p>
        </p:txBody>
      </p:sp>
    </p:spTree>
    <p:extLst>
      <p:ext uri="{BB962C8B-B14F-4D97-AF65-F5344CB8AC3E}">
        <p14:creationId xmlns:p14="http://schemas.microsoft.com/office/powerpoint/2010/main" val="14714062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80C28-7F4A-4A2E-A978-8D4A8C446E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PROBLEM STATEMENTS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FD9B2C-D4EC-4BE3-AD67-8846240BB8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44442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86D0B-8FFB-45D9-841C-A3EE89739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MANUAL SUBMISSION OF REQUEST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A7161D6-089D-4212-B34D-AB16E1F0F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Students currently may need to submit excuse and absence requests manually.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815124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91FF8-F0C0-4156-AB69-429233E08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THIS PROCESS CAN BE: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0B963-4CAD-41BD-A144-A7339E3B7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This process can be:</a:t>
            </a:r>
          </a:p>
          <a:p>
            <a:r>
              <a:rPr lang="en-US" dirty="0">
                <a:solidFill>
                  <a:schemeClr val="bg1"/>
                </a:solidFill>
              </a:rPr>
              <a:t>Time-consuming</a:t>
            </a:r>
          </a:p>
          <a:p>
            <a:r>
              <a:rPr lang="en-US" dirty="0">
                <a:solidFill>
                  <a:schemeClr val="bg1"/>
                </a:solidFill>
              </a:rPr>
              <a:t>Inconvenient</a:t>
            </a:r>
          </a:p>
          <a:p>
            <a:r>
              <a:rPr lang="en-US" dirty="0">
                <a:solidFill>
                  <a:schemeClr val="bg1"/>
                </a:solidFill>
              </a:rPr>
              <a:t>Dependent on paper forms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Paper forms may also be:</a:t>
            </a:r>
          </a:p>
          <a:p>
            <a:r>
              <a:rPr lang="en-US" dirty="0">
                <a:solidFill>
                  <a:schemeClr val="bg1"/>
                </a:solidFill>
              </a:rPr>
              <a:t>Lost</a:t>
            </a:r>
          </a:p>
          <a:p>
            <a:r>
              <a:rPr lang="en-US" dirty="0">
                <a:solidFill>
                  <a:schemeClr val="bg1"/>
                </a:solidFill>
              </a:rPr>
              <a:t>Damaged</a:t>
            </a:r>
          </a:p>
          <a:p>
            <a:r>
              <a:rPr lang="en-US" dirty="0">
                <a:solidFill>
                  <a:schemeClr val="bg1"/>
                </a:solidFill>
              </a:rPr>
              <a:t>Submitted late</a:t>
            </a:r>
          </a:p>
        </p:txBody>
      </p:sp>
    </p:spTree>
    <p:extLst>
      <p:ext uri="{BB962C8B-B14F-4D97-AF65-F5344CB8AC3E}">
        <p14:creationId xmlns:p14="http://schemas.microsoft.com/office/powerpoint/2010/main" val="221234259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19DE0-E447-4565-AADB-764D7F3FA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PROPOSED SOLUTION #1: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5974E-777D-4C93-BEDF-6844C759B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The proposed system allows students to submit their absence requests online.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Students can also attach supporting documents to their requests.</a:t>
            </a:r>
          </a:p>
        </p:txBody>
      </p:sp>
    </p:spTree>
    <p:extLst>
      <p:ext uri="{BB962C8B-B14F-4D97-AF65-F5344CB8AC3E}">
        <p14:creationId xmlns:p14="http://schemas.microsoft.com/office/powerpoint/2010/main" val="398257615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FE74D-2FA1-4FA5-B7EC-B960917A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BENEFITS: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1C22D-5339-43B6-BA87-105E705D1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Less paperwork</a:t>
            </a:r>
          </a:p>
          <a:p>
            <a:r>
              <a:rPr lang="en-US" sz="2800" dirty="0">
                <a:solidFill>
                  <a:schemeClr val="bg1"/>
                </a:solidFill>
              </a:rPr>
              <a:t>Faster submission</a:t>
            </a:r>
          </a:p>
          <a:p>
            <a:r>
              <a:rPr lang="en-US" sz="2800" dirty="0">
                <a:solidFill>
                  <a:schemeClr val="bg1"/>
                </a:solidFill>
              </a:rPr>
              <a:t>More convenient for students</a:t>
            </a:r>
          </a:p>
          <a:p>
            <a:r>
              <a:rPr lang="en-US" sz="2800" dirty="0">
                <a:solidFill>
                  <a:schemeClr val="bg1"/>
                </a:solidFill>
              </a:rPr>
              <a:t>Digital storage of requests</a:t>
            </a:r>
          </a:p>
          <a:p>
            <a:r>
              <a:rPr lang="en-US" sz="2800" dirty="0">
                <a:solidFill>
                  <a:schemeClr val="bg1"/>
                </a:solidFill>
              </a:rPr>
              <a:t>Easier processing for authorized personnel</a:t>
            </a:r>
          </a:p>
        </p:txBody>
      </p:sp>
    </p:spTree>
    <p:extLst>
      <p:ext uri="{BB962C8B-B14F-4D97-AF65-F5344CB8AC3E}">
        <p14:creationId xmlns:p14="http://schemas.microsoft.com/office/powerpoint/2010/main" val="3038758589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A4542-E011-4258-AE90-BB0131B0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DIFFICULTY IN MONITORING REQUEST STATUS: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CC996-E5B6-49BC-A82F-830FCF138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744913"/>
          </a:xfrm>
        </p:spPr>
        <p:txBody>
          <a:bodyPr>
            <a:normAutofit lnSpcReduction="10000"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Students may not know whether their absence request is:</a:t>
            </a:r>
          </a:p>
          <a:p>
            <a:r>
              <a:rPr lang="en-US" dirty="0">
                <a:solidFill>
                  <a:schemeClr val="bg1"/>
                </a:solidFill>
              </a:rPr>
              <a:t>Pending</a:t>
            </a:r>
          </a:p>
          <a:p>
            <a:r>
              <a:rPr lang="en-US" dirty="0">
                <a:solidFill>
                  <a:schemeClr val="bg1"/>
                </a:solidFill>
              </a:rPr>
              <a:t>Approved</a:t>
            </a:r>
          </a:p>
          <a:p>
            <a:r>
              <a:rPr lang="en-US" dirty="0">
                <a:solidFill>
                  <a:schemeClr val="bg1"/>
                </a:solidFill>
              </a:rPr>
              <a:t>Denied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School staff may also spend additional time checking records and answering questions about request updates.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936088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BB044-3184-4893-A43B-7BECD3123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Proposed Solution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9CA37-5B8F-46F8-ABCC-BE6576D09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REQUEST STATUS MONITORING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system will allow students to monitor the status of their submitted requests.</a:t>
            </a:r>
          </a:p>
          <a:p>
            <a:r>
              <a:rPr lang="en-US" dirty="0">
                <a:solidFill>
                  <a:schemeClr val="bg1"/>
                </a:solidFill>
              </a:rPr>
              <a:t>Authorized staff can update the request status.</a:t>
            </a:r>
          </a:p>
          <a:p>
            <a:r>
              <a:rPr lang="en-US" dirty="0">
                <a:solidFill>
                  <a:schemeClr val="bg1"/>
                </a:solidFill>
              </a:rPr>
              <a:t>This improves communication between students and school personnel and reduces repeated inquiries about request updates.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772655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2070E-20E7-4954-B366-356909C23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UNORGANIZED AND INSECURE RECORDS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3A0D9-7FA5-4B30-ABDB-9FB5601B1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Manual records can be:</a:t>
            </a:r>
          </a:p>
          <a:p>
            <a:r>
              <a:rPr lang="en-US" dirty="0">
                <a:solidFill>
                  <a:schemeClr val="bg1"/>
                </a:solidFill>
              </a:rPr>
              <a:t>Lost</a:t>
            </a:r>
          </a:p>
          <a:p>
            <a:r>
              <a:rPr lang="en-US" dirty="0">
                <a:solidFill>
                  <a:schemeClr val="bg1"/>
                </a:solidFill>
              </a:rPr>
              <a:t>Damaged</a:t>
            </a:r>
          </a:p>
          <a:p>
            <a:r>
              <a:rPr lang="en-US" dirty="0">
                <a:solidFill>
                  <a:schemeClr val="bg1"/>
                </a:solidFill>
              </a:rPr>
              <a:t>Difficult to locate</a:t>
            </a:r>
          </a:p>
          <a:p>
            <a:r>
              <a:rPr lang="en-US" dirty="0">
                <a:solidFill>
                  <a:schemeClr val="bg1"/>
                </a:solidFill>
              </a:rPr>
              <a:t>Accessible to unauthorized people</a:t>
            </a:r>
          </a:p>
          <a:p>
            <a:r>
              <a:rPr lang="en-US" dirty="0">
                <a:solidFill>
                  <a:schemeClr val="bg1"/>
                </a:solidFill>
              </a:rPr>
              <a:t>These issues can affect the accuracy and privacy of student information.</a:t>
            </a:r>
          </a:p>
        </p:txBody>
      </p:sp>
    </p:spTree>
    <p:extLst>
      <p:ext uri="{BB962C8B-B14F-4D97-AF65-F5344CB8AC3E}">
        <p14:creationId xmlns:p14="http://schemas.microsoft.com/office/powerpoint/2010/main" val="1782020378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96715-B9ED-4FAA-A65D-02EF08177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Proposed Solution #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087D8-601D-41BF-B9DF-2B989F70E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The system will store absence requests in a secure database.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Only authorized users will be given access to student records.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This makes records:</a:t>
            </a:r>
          </a:p>
          <a:p>
            <a:r>
              <a:rPr lang="en-US" dirty="0">
                <a:solidFill>
                  <a:schemeClr val="bg1"/>
                </a:solidFill>
              </a:rPr>
              <a:t>Easier to manage</a:t>
            </a:r>
          </a:p>
          <a:p>
            <a:r>
              <a:rPr lang="en-US" dirty="0">
                <a:solidFill>
                  <a:schemeClr val="bg1"/>
                </a:solidFill>
              </a:rPr>
              <a:t>Easier to find</a:t>
            </a:r>
          </a:p>
          <a:p>
            <a:r>
              <a:rPr lang="en-US" dirty="0">
                <a:solidFill>
                  <a:schemeClr val="bg1"/>
                </a:solidFill>
              </a:rPr>
              <a:t>More organized</a:t>
            </a:r>
          </a:p>
          <a:p>
            <a:r>
              <a:rPr lang="en-US" dirty="0">
                <a:solidFill>
                  <a:schemeClr val="bg1"/>
                </a:solidFill>
              </a:rPr>
              <a:t>Better protected from unauthorized access</a:t>
            </a:r>
          </a:p>
        </p:txBody>
      </p:sp>
    </p:spTree>
    <p:extLst>
      <p:ext uri="{BB962C8B-B14F-4D97-AF65-F5344CB8AC3E}">
        <p14:creationId xmlns:p14="http://schemas.microsoft.com/office/powerpoint/2010/main" val="1140473549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228529-37E3-4291-A358-36C8353AB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dirty="0">
                <a:solidFill>
                  <a:schemeClr val="bg1"/>
                </a:solidFill>
              </a:rPr>
              <a:t>Information Assurance and Security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79B8E4-F150-4E57-AE03-AC5102358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86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8AFCF-3F8C-4851-A826-435C03C3F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Information Assurance and Security: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3CBF6-D226-4D8B-9705-1FDD95155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1682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CONFIDENTIALITY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Only authorized users can access student requests and uploaded files.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INTEGRITY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The system helps prevent fake or altered excuse documents and records important system activities.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AVAILABILITY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The system is designed to remain accessible when needed through backups.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AUTHENTICATION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Users must log in before accessing the system.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NON-REPUDIATION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System activities are recorded so actions such as approvals and submissions can be traced.</a:t>
            </a:r>
          </a:p>
        </p:txBody>
      </p:sp>
    </p:spTree>
    <p:extLst>
      <p:ext uri="{BB962C8B-B14F-4D97-AF65-F5344CB8AC3E}">
        <p14:creationId xmlns:p14="http://schemas.microsoft.com/office/powerpoint/2010/main" val="87111868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C20B2-23D8-45E4-82DE-F538F20FF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CONFIDENTIALITY: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C98F6-179D-4E7A-AC09-5328FC804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>
                <a:solidFill>
                  <a:schemeClr val="bg1"/>
                </a:solidFill>
              </a:rPr>
              <a:t>PROTECTING STUDENT PRIVACY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Only the following authorized users should be able to view request details and uploaded files:</a:t>
            </a:r>
          </a:p>
          <a:p>
            <a:r>
              <a:rPr lang="en-US" dirty="0">
                <a:solidFill>
                  <a:schemeClr val="bg1"/>
                </a:solidFill>
              </a:rPr>
              <a:t>The student who submitted the request</a:t>
            </a:r>
          </a:p>
          <a:p>
            <a:r>
              <a:rPr lang="en-US" dirty="0">
                <a:solidFill>
                  <a:schemeClr val="bg1"/>
                </a:solidFill>
              </a:rPr>
              <a:t>Their adviser</a:t>
            </a:r>
          </a:p>
          <a:p>
            <a:r>
              <a:rPr lang="en-US" dirty="0">
                <a:solidFill>
                  <a:schemeClr val="bg1"/>
                </a:solidFill>
              </a:rPr>
              <a:t>School administrator</a:t>
            </a:r>
          </a:p>
        </p:txBody>
      </p:sp>
    </p:spTree>
    <p:extLst>
      <p:ext uri="{BB962C8B-B14F-4D97-AF65-F5344CB8AC3E}">
        <p14:creationId xmlns:p14="http://schemas.microsoft.com/office/powerpoint/2010/main" val="1776551555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24586-029C-4595-B121-A4CDCE8D2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The system plans to use: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B6A61-0DB7-4343-A6E8-933E978F4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1"/>
                </a:solidFill>
              </a:rPr>
              <a:t>User roles</a:t>
            </a:r>
          </a:p>
          <a:p>
            <a:r>
              <a:rPr lang="en-US" sz="3600" dirty="0">
                <a:solidFill>
                  <a:schemeClr val="bg1"/>
                </a:solidFill>
              </a:rPr>
              <a:t>Data encryption</a:t>
            </a:r>
          </a:p>
          <a:p>
            <a:r>
              <a:rPr lang="en-US" sz="3600" dirty="0">
                <a:solidFill>
                  <a:schemeClr val="bg1"/>
                </a:solidFill>
              </a:rPr>
              <a:t>Access controls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568517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A2A23-846C-4B1E-8705-9A74C3EF6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INTEGRITY: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57939-A610-4320-8A89-ECB572740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PROTECTING THE ACCURACY OF REQUESTS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To help prevent fake or altered excuse documents, the system plans to:</a:t>
            </a:r>
          </a:p>
          <a:p>
            <a:r>
              <a:rPr lang="en-US" dirty="0">
                <a:solidFill>
                  <a:schemeClr val="bg1"/>
                </a:solidFill>
              </a:rPr>
              <a:t>Require PDF or JPG proof documents</a:t>
            </a:r>
          </a:p>
          <a:p>
            <a:r>
              <a:rPr lang="en-US" dirty="0">
                <a:solidFill>
                  <a:schemeClr val="bg1"/>
                </a:solidFill>
              </a:rPr>
              <a:t>Check whether uploaded files have been edited</a:t>
            </a:r>
          </a:p>
          <a:p>
            <a:r>
              <a:rPr lang="en-US" dirty="0">
                <a:solidFill>
                  <a:schemeClr val="bg1"/>
                </a:solidFill>
              </a:rPr>
              <a:t>Record important system activities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The system will maintain an activity log containing information such as who approved or rejected a request and when the action occurred.</a:t>
            </a:r>
          </a:p>
        </p:txBody>
      </p:sp>
    </p:spTree>
    <p:extLst>
      <p:ext uri="{BB962C8B-B14F-4D97-AF65-F5344CB8AC3E}">
        <p14:creationId xmlns:p14="http://schemas.microsoft.com/office/powerpoint/2010/main" val="4125167258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6E152-7786-4909-9AE7-A15FDE5BE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Availability and Authentication: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E2601-00D7-4770-B7D8-13CF7C6C0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8838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AVAILABILITY</a:t>
            </a:r>
          </a:p>
          <a:p>
            <a:r>
              <a:rPr lang="en-US" dirty="0">
                <a:solidFill>
                  <a:schemeClr val="bg1"/>
                </a:solidFill>
              </a:rPr>
              <a:t>The system is planned as a website and mobile application so students and teachers can access it when needed.</a:t>
            </a:r>
          </a:p>
          <a:p>
            <a:r>
              <a:rPr lang="en-US" dirty="0">
                <a:solidFill>
                  <a:schemeClr val="bg1"/>
                </a:solidFill>
              </a:rPr>
              <a:t>Daily backups will also be implemented to reduce the risk of losing data.</a:t>
            </a:r>
          </a:p>
          <a:p>
            <a:r>
              <a:rPr lang="en-US" dirty="0">
                <a:solidFill>
                  <a:schemeClr val="bg1"/>
                </a:solidFill>
              </a:rPr>
              <a:t>AUTHENTICATION</a:t>
            </a:r>
          </a:p>
          <a:p>
            <a:r>
              <a:rPr lang="en-US" dirty="0">
                <a:solidFill>
                  <a:schemeClr val="bg1"/>
                </a:solidFill>
              </a:rPr>
              <a:t>Users must log in before using the system.</a:t>
            </a:r>
          </a:p>
          <a:p>
            <a:r>
              <a:rPr lang="en-US" dirty="0">
                <a:solidFill>
                  <a:schemeClr val="bg1"/>
                </a:solidFill>
              </a:rPr>
              <a:t>Students use their student ID and password.</a:t>
            </a:r>
          </a:p>
          <a:p>
            <a:r>
              <a:rPr lang="en-US" dirty="0">
                <a:solidFill>
                  <a:schemeClr val="bg1"/>
                </a:solidFill>
              </a:rPr>
              <a:t>Teachers and administrators use their school accounts.</a:t>
            </a:r>
          </a:p>
          <a:p>
            <a:r>
              <a:rPr lang="en-US" dirty="0">
                <a:solidFill>
                  <a:schemeClr val="bg1"/>
                </a:solidFill>
              </a:rPr>
              <a:t>OTP verification is planned for the first login.</a:t>
            </a:r>
          </a:p>
        </p:txBody>
      </p:sp>
    </p:spTree>
    <p:extLst>
      <p:ext uri="{BB962C8B-B14F-4D97-AF65-F5344CB8AC3E}">
        <p14:creationId xmlns:p14="http://schemas.microsoft.com/office/powerpoint/2010/main" val="1361139319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53D29-B4F0-43C3-9AFB-1373DDDD1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Non-Repudiation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DB89F-08BC-4618-8EBA-E60715701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ACTIVITY TRACKING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The system will automatically record important activities. For example, when a teacher approves or rejects a request, the system can record:</a:t>
            </a:r>
          </a:p>
          <a:p>
            <a:r>
              <a:rPr lang="en-US" dirty="0">
                <a:solidFill>
                  <a:schemeClr val="bg1"/>
                </a:solidFill>
              </a:rPr>
              <a:t>Teacher's name</a:t>
            </a:r>
          </a:p>
          <a:p>
            <a:r>
              <a:rPr lang="en-US" dirty="0">
                <a:solidFill>
                  <a:schemeClr val="bg1"/>
                </a:solidFill>
              </a:rPr>
              <a:t>Date</a:t>
            </a:r>
          </a:p>
          <a:p>
            <a:r>
              <a:rPr lang="en-US" dirty="0">
                <a:solidFill>
                  <a:schemeClr val="bg1"/>
                </a:solidFill>
              </a:rPr>
              <a:t>Time</a:t>
            </a:r>
          </a:p>
          <a:p>
            <a:r>
              <a:rPr lang="en-US" dirty="0">
                <a:solidFill>
                  <a:schemeClr val="bg1"/>
                </a:solidFill>
              </a:rPr>
              <a:t>Action performed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Students' submitted requests will also remain in their account history.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This provides a record of important actions performed within the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824099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EACCB-1E08-47CE-9501-ACD3AC85D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Secure Coding Measures: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E7EEC-6946-4620-A1E8-9AF0409A3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The system will use several security measures, including:</a:t>
            </a:r>
          </a:p>
          <a:p>
            <a:r>
              <a:rPr lang="en-US" dirty="0">
                <a:solidFill>
                  <a:schemeClr val="bg1"/>
                </a:solidFill>
              </a:rPr>
              <a:t>HTTPS for secure communication</a:t>
            </a:r>
          </a:p>
          <a:p>
            <a:r>
              <a:rPr lang="en-US" dirty="0">
                <a:solidFill>
                  <a:schemeClr val="bg1"/>
                </a:solidFill>
              </a:rPr>
              <a:t>Password hashing to protect account passwords</a:t>
            </a:r>
          </a:p>
          <a:p>
            <a:r>
              <a:rPr lang="en-US" dirty="0">
                <a:solidFill>
                  <a:schemeClr val="bg1"/>
                </a:solidFill>
              </a:rPr>
              <a:t>Input validation to prevent invalid data</a:t>
            </a:r>
          </a:p>
          <a:p>
            <a:r>
              <a:rPr lang="en-US" dirty="0">
                <a:solidFill>
                  <a:schemeClr val="bg1"/>
                </a:solidFill>
              </a:rPr>
              <a:t>Safe database queries</a:t>
            </a:r>
          </a:p>
          <a:p>
            <a:r>
              <a:rPr lang="en-US" dirty="0">
                <a:solidFill>
                  <a:schemeClr val="bg1"/>
                </a:solidFill>
              </a:rPr>
              <a:t>User authentication</a:t>
            </a:r>
          </a:p>
          <a:p>
            <a:r>
              <a:rPr lang="en-US" dirty="0">
                <a:solidFill>
                  <a:schemeClr val="bg1"/>
                </a:solidFill>
              </a:rPr>
              <a:t>Access control</a:t>
            </a:r>
          </a:p>
          <a:p>
            <a:r>
              <a:rPr lang="en-US" dirty="0">
                <a:solidFill>
                  <a:schemeClr val="bg1"/>
                </a:solidFill>
              </a:rPr>
              <a:t>The proposed technologies include Laravel and MySQL.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29928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32CAF-89C6-4BB6-85AC-F8231AFF8E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SECURE CODING AND DEFENSIVE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6EEF41-5A67-4F8C-B642-19A3A47065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336663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7C709-7A9C-4EFE-BD9D-3D93BA923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</a:t>
            </a:r>
            <a:r>
              <a:rPr lang="en-US" b="1" dirty="0">
                <a:solidFill>
                  <a:schemeClr val="bg1"/>
                </a:solidFill>
              </a:rPr>
              <a:t>Defensive Programming Plan: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102BA-73C6-4EEB-A4EE-1ABEB79A6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28678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The system will validate and sanitize user inputs such as:</a:t>
            </a:r>
          </a:p>
          <a:p>
            <a:r>
              <a:rPr lang="en-US" sz="2800" dirty="0">
                <a:solidFill>
                  <a:schemeClr val="bg1"/>
                </a:solidFill>
              </a:rPr>
              <a:t>Student identifiers</a:t>
            </a:r>
          </a:p>
          <a:p>
            <a:r>
              <a:rPr lang="en-US" sz="2800" dirty="0">
                <a:solidFill>
                  <a:schemeClr val="bg1"/>
                </a:solidFill>
              </a:rPr>
              <a:t>Dates of absence</a:t>
            </a:r>
          </a:p>
          <a:p>
            <a:r>
              <a:rPr lang="en-US" sz="2800" dirty="0">
                <a:solidFill>
                  <a:schemeClr val="bg1"/>
                </a:solidFill>
              </a:rPr>
              <a:t>Reasons for absence</a:t>
            </a:r>
          </a:p>
          <a:p>
            <a:r>
              <a:rPr lang="en-US" sz="2800" dirty="0">
                <a:solidFill>
                  <a:schemeClr val="bg1"/>
                </a:solidFill>
              </a:rPr>
              <a:t>Other submitted information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The system will also include error-handling and recovery mechanisms.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Security checks and default-denial rules will be applied to operations involving:</a:t>
            </a:r>
          </a:p>
          <a:p>
            <a:r>
              <a:rPr lang="en-US" sz="2800" dirty="0">
                <a:solidFill>
                  <a:schemeClr val="bg1"/>
                </a:solidFill>
              </a:rPr>
              <a:t>Student data</a:t>
            </a:r>
          </a:p>
          <a:p>
            <a:r>
              <a:rPr lang="en-US" sz="2800" dirty="0">
                <a:solidFill>
                  <a:schemeClr val="bg1"/>
                </a:solidFill>
              </a:rPr>
              <a:t>Excuse letters</a:t>
            </a:r>
          </a:p>
          <a:p>
            <a:r>
              <a:rPr lang="en-US" sz="2800" dirty="0">
                <a:solidFill>
                  <a:schemeClr val="bg1"/>
                </a:solidFill>
              </a:rPr>
              <a:t>Absence requests</a:t>
            </a:r>
          </a:p>
          <a:p>
            <a:r>
              <a:rPr lang="en-US" sz="2800" dirty="0">
                <a:solidFill>
                  <a:schemeClr val="bg1"/>
                </a:solidFill>
              </a:rPr>
              <a:t>Approvals</a:t>
            </a:r>
          </a:p>
        </p:txBody>
      </p:sp>
    </p:spTree>
    <p:extLst>
      <p:ext uri="{BB962C8B-B14F-4D97-AF65-F5344CB8AC3E}">
        <p14:creationId xmlns:p14="http://schemas.microsoft.com/office/powerpoint/2010/main" val="3615424379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817C3-ECB0-479A-9A33-A7D058417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Secure Coding Plan: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B5214-4C1B-4F35-BD32-733006656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13438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The system will follow secure coding practices to protect student and teacher information.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These include:</a:t>
            </a:r>
          </a:p>
          <a:p>
            <a:r>
              <a:rPr lang="en-US" dirty="0">
                <a:solidFill>
                  <a:schemeClr val="bg1"/>
                </a:solidFill>
              </a:rPr>
              <a:t>Validating user inputs</a:t>
            </a:r>
          </a:p>
          <a:p>
            <a:r>
              <a:rPr lang="en-US" dirty="0">
                <a:solidFill>
                  <a:schemeClr val="bg1"/>
                </a:solidFill>
              </a:rPr>
              <a:t>Securely storing passwords</a:t>
            </a:r>
          </a:p>
          <a:p>
            <a:r>
              <a:rPr lang="en-US" dirty="0">
                <a:solidFill>
                  <a:schemeClr val="bg1"/>
                </a:solidFill>
              </a:rPr>
              <a:t>Using safe database queries</a:t>
            </a:r>
          </a:p>
          <a:p>
            <a:r>
              <a:rPr lang="en-US" dirty="0">
                <a:solidFill>
                  <a:schemeClr val="bg1"/>
                </a:solidFill>
              </a:rPr>
              <a:t>Preventing SQL injection</a:t>
            </a:r>
          </a:p>
          <a:p>
            <a:r>
              <a:rPr lang="en-US" dirty="0">
                <a:solidFill>
                  <a:schemeClr val="bg1"/>
                </a:solidFill>
              </a:rPr>
              <a:t>Implementing authentication</a:t>
            </a:r>
          </a:p>
          <a:p>
            <a:r>
              <a:rPr lang="en-US" dirty="0">
                <a:solidFill>
                  <a:schemeClr val="bg1"/>
                </a:solidFill>
              </a:rPr>
              <a:t>Implementing access controls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These practices help protect student records and excuse documents from unauthorized access.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569809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CF0F4-DE7A-4857-9099-269E60E85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Expected Benefits: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DEF20-1CF7-43AB-ADA4-6DDC35280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FOR STUDENTS</a:t>
            </a:r>
          </a:p>
          <a:p>
            <a:r>
              <a:rPr lang="en-US" dirty="0">
                <a:solidFill>
                  <a:schemeClr val="bg1"/>
                </a:solidFill>
              </a:rPr>
              <a:t>Easier submission of absence requests</a:t>
            </a:r>
          </a:p>
          <a:p>
            <a:r>
              <a:rPr lang="en-US" dirty="0">
                <a:solidFill>
                  <a:schemeClr val="bg1"/>
                </a:solidFill>
              </a:rPr>
              <a:t>Faster processing</a:t>
            </a:r>
          </a:p>
          <a:p>
            <a:r>
              <a:rPr lang="en-US" dirty="0">
                <a:solidFill>
                  <a:schemeClr val="bg1"/>
                </a:solidFill>
              </a:rPr>
              <a:t>Ability to monitor request status</a:t>
            </a:r>
          </a:p>
          <a:p>
            <a:r>
              <a:rPr lang="en-US" dirty="0">
                <a:solidFill>
                  <a:schemeClr val="bg1"/>
                </a:solidFill>
              </a:rPr>
              <a:t>Less dependence on paper forms</a:t>
            </a:r>
          </a:p>
        </p:txBody>
      </p:sp>
    </p:spTree>
    <p:extLst>
      <p:ext uri="{BB962C8B-B14F-4D97-AF65-F5344CB8AC3E}">
        <p14:creationId xmlns:p14="http://schemas.microsoft.com/office/powerpoint/2010/main" val="2045533963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CF0F4-DE7A-4857-9099-269E60E85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Expected Benefits: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DEF20-1CF7-43AB-ADA4-6DDC35280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FOR TEACHERS AND SCHOOL STAFF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Easier request management</a:t>
            </a:r>
          </a:p>
          <a:p>
            <a:r>
              <a:rPr lang="en-US" dirty="0">
                <a:solidFill>
                  <a:schemeClr val="bg1"/>
                </a:solidFill>
              </a:rPr>
              <a:t>Faster access to records</a:t>
            </a:r>
          </a:p>
          <a:p>
            <a:r>
              <a:rPr lang="en-US" dirty="0">
                <a:solidFill>
                  <a:schemeClr val="bg1"/>
                </a:solidFill>
              </a:rPr>
              <a:t>Better monitoring of requests</a:t>
            </a:r>
          </a:p>
          <a:p>
            <a:r>
              <a:rPr lang="en-US" dirty="0">
                <a:solidFill>
                  <a:schemeClr val="bg1"/>
                </a:solidFill>
              </a:rPr>
              <a:t>Reduced paperwork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91138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CF0F4-DE7A-4857-9099-269E60E85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Expected Benefits: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DEF20-1CF7-43AB-ADA4-6DDC35280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419" y="2097088"/>
            <a:ext cx="9905999" cy="35417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FOR THE SCHOOL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More organized records</a:t>
            </a:r>
          </a:p>
          <a:p>
            <a:r>
              <a:rPr lang="en-US" dirty="0">
                <a:solidFill>
                  <a:schemeClr val="bg1"/>
                </a:solidFill>
              </a:rPr>
              <a:t>Improved privacy and security</a:t>
            </a:r>
          </a:p>
          <a:p>
            <a:r>
              <a:rPr lang="en-US" dirty="0">
                <a:solidFill>
                  <a:schemeClr val="bg1"/>
                </a:solidFill>
              </a:rPr>
              <a:t>Reduced risk of lost documents</a:t>
            </a:r>
          </a:p>
          <a:p>
            <a:r>
              <a:rPr lang="en-US" dirty="0">
                <a:solidFill>
                  <a:schemeClr val="bg1"/>
                </a:solidFill>
              </a:rPr>
              <a:t>More efficient absence-request processing</a:t>
            </a:r>
          </a:p>
          <a:p>
            <a:r>
              <a:rPr lang="en-US" dirty="0">
                <a:solidFill>
                  <a:schemeClr val="bg1"/>
                </a:solidFill>
              </a:rPr>
              <a:t>Slide 20 — Conclusion</a:t>
            </a:r>
          </a:p>
        </p:txBody>
      </p:sp>
    </p:spTree>
    <p:extLst>
      <p:ext uri="{BB962C8B-B14F-4D97-AF65-F5344CB8AC3E}">
        <p14:creationId xmlns:p14="http://schemas.microsoft.com/office/powerpoint/2010/main" val="2086048093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BD89C-316E-446F-8FFC-EE79A6E14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Consclusion</a:t>
            </a:r>
            <a:r>
              <a:rPr lang="en-US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89CDE-71D9-499C-96BE-1B71D5B4A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solidFill>
                  <a:schemeClr val="bg1"/>
                </a:solidFill>
              </a:rPr>
              <a:t>The Student Excuse and Absence Request Management System provides a digital approach to submitting, processing, monitoring, and managing student absence requests.</a:t>
            </a:r>
          </a:p>
          <a:p>
            <a:r>
              <a:rPr lang="en-US" dirty="0">
                <a:solidFill>
                  <a:schemeClr val="bg1"/>
                </a:solidFill>
              </a:rPr>
              <a:t>By replacing manual processes with a secure digital system, the project aims to make absence-request management faster, more organized, convenient, and secure.</a:t>
            </a:r>
          </a:p>
          <a:p>
            <a:r>
              <a:rPr lang="en-US" dirty="0">
                <a:solidFill>
                  <a:schemeClr val="bg1"/>
                </a:solidFill>
              </a:rPr>
              <a:t>The proposed security measures also help protect student information and maintain the integrity of absence records.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093583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0EC03EC-9F1F-4FD9-903C-F0509889B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Account login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936295-3F05-425E-924E-B5FB1F756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172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868F-A9FA-4B91-B500-0B339CFB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 log 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A4AE2-5EC8-4828-8EDB-09796153C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703" y="1619794"/>
            <a:ext cx="11142617" cy="4963886"/>
          </a:xfrm>
        </p:spPr>
      </p:pic>
    </p:spTree>
    <p:extLst>
      <p:ext uri="{BB962C8B-B14F-4D97-AF65-F5344CB8AC3E}">
        <p14:creationId xmlns:p14="http://schemas.microsoft.com/office/powerpoint/2010/main" val="25198560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868F-A9FA-4B91-B500-0B339CFB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 log 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A4AE2-5EC8-4828-8EDB-09796153C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75959" y="1619794"/>
            <a:ext cx="9314104" cy="4963886"/>
          </a:xfrm>
        </p:spPr>
      </p:pic>
    </p:spTree>
    <p:extLst>
      <p:ext uri="{BB962C8B-B14F-4D97-AF65-F5344CB8AC3E}">
        <p14:creationId xmlns:p14="http://schemas.microsoft.com/office/powerpoint/2010/main" val="29113667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0EC03EC-9F1F-4FD9-903C-F0509889B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Student portal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936295-3F05-425E-924E-B5FB1F756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314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868F-A9FA-4B91-B500-0B339CFB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portal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A4AE2-5EC8-4828-8EDB-09796153C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75959" y="1619794"/>
            <a:ext cx="9314104" cy="4963885"/>
          </a:xfrm>
        </p:spPr>
      </p:pic>
    </p:spTree>
    <p:extLst>
      <p:ext uri="{BB962C8B-B14F-4D97-AF65-F5344CB8AC3E}">
        <p14:creationId xmlns:p14="http://schemas.microsoft.com/office/powerpoint/2010/main" val="28778058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868F-A9FA-4B91-B500-0B339CFB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portal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A4AE2-5EC8-4828-8EDB-09796153C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75960" y="1619794"/>
            <a:ext cx="9314102" cy="4963884"/>
          </a:xfrm>
        </p:spPr>
      </p:pic>
    </p:spTree>
    <p:extLst>
      <p:ext uri="{BB962C8B-B14F-4D97-AF65-F5344CB8AC3E}">
        <p14:creationId xmlns:p14="http://schemas.microsoft.com/office/powerpoint/2010/main" val="2574087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868F-A9FA-4B91-B500-0B339CFB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portal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A4AE2-5EC8-4828-8EDB-09796153C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75961" y="1619794"/>
            <a:ext cx="9314100" cy="4963884"/>
          </a:xfrm>
        </p:spPr>
      </p:pic>
    </p:spTree>
    <p:extLst>
      <p:ext uri="{BB962C8B-B14F-4D97-AF65-F5344CB8AC3E}">
        <p14:creationId xmlns:p14="http://schemas.microsoft.com/office/powerpoint/2010/main" val="34300536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868F-A9FA-4B91-B500-0B339CFB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portal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A4AE2-5EC8-4828-8EDB-09796153C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75961" y="1619794"/>
            <a:ext cx="9314100" cy="4963883"/>
          </a:xfrm>
        </p:spPr>
      </p:pic>
    </p:spTree>
    <p:extLst>
      <p:ext uri="{BB962C8B-B14F-4D97-AF65-F5344CB8AC3E}">
        <p14:creationId xmlns:p14="http://schemas.microsoft.com/office/powerpoint/2010/main" val="24444151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868F-A9FA-4B91-B500-0B339CFB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portal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A4AE2-5EC8-4828-8EDB-09796153C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75962" y="1619794"/>
            <a:ext cx="9314098" cy="4963883"/>
          </a:xfrm>
        </p:spPr>
      </p:pic>
    </p:spTree>
    <p:extLst>
      <p:ext uri="{BB962C8B-B14F-4D97-AF65-F5344CB8AC3E}">
        <p14:creationId xmlns:p14="http://schemas.microsoft.com/office/powerpoint/2010/main" val="36544994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868F-A9FA-4B91-B500-0B339CFB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portal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A4AE2-5EC8-4828-8EDB-09796153C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75962" y="1619794"/>
            <a:ext cx="9314098" cy="4963883"/>
          </a:xfrm>
        </p:spPr>
      </p:pic>
    </p:spTree>
    <p:extLst>
      <p:ext uri="{BB962C8B-B14F-4D97-AF65-F5344CB8AC3E}">
        <p14:creationId xmlns:p14="http://schemas.microsoft.com/office/powerpoint/2010/main" val="9876752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868F-A9FA-4B91-B500-0B339CFB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portal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A4AE2-5EC8-4828-8EDB-09796153C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75960" y="1619794"/>
            <a:ext cx="9314102" cy="4963885"/>
          </a:xfrm>
        </p:spPr>
      </p:pic>
    </p:spTree>
    <p:extLst>
      <p:ext uri="{BB962C8B-B14F-4D97-AF65-F5344CB8AC3E}">
        <p14:creationId xmlns:p14="http://schemas.microsoft.com/office/powerpoint/2010/main" val="24871204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0EC03EC-9F1F-4FD9-903C-F0509889B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Student portal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936295-3F05-425E-924E-B5FB1F756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497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868F-A9FA-4B91-B500-0B339CFB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Teacher portal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A4AE2-5EC8-4828-8EDB-09796153C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75960" y="1619794"/>
            <a:ext cx="9314102" cy="4963884"/>
          </a:xfrm>
        </p:spPr>
      </p:pic>
    </p:spTree>
    <p:extLst>
      <p:ext uri="{BB962C8B-B14F-4D97-AF65-F5344CB8AC3E}">
        <p14:creationId xmlns:p14="http://schemas.microsoft.com/office/powerpoint/2010/main" val="22413902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868F-A9FA-4B91-B500-0B339CFB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Teacher portal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A4AE2-5EC8-4828-8EDB-09796153C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75961" y="1619794"/>
            <a:ext cx="9314100" cy="4963884"/>
          </a:xfrm>
        </p:spPr>
      </p:pic>
    </p:spTree>
    <p:extLst>
      <p:ext uri="{BB962C8B-B14F-4D97-AF65-F5344CB8AC3E}">
        <p14:creationId xmlns:p14="http://schemas.microsoft.com/office/powerpoint/2010/main" val="40801608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868F-A9FA-4B91-B500-0B339CFB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Teacher portal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A4AE2-5EC8-4828-8EDB-09796153C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75961" y="1619794"/>
            <a:ext cx="9314100" cy="4963883"/>
          </a:xfrm>
        </p:spPr>
      </p:pic>
    </p:spTree>
    <p:extLst>
      <p:ext uri="{BB962C8B-B14F-4D97-AF65-F5344CB8AC3E}">
        <p14:creationId xmlns:p14="http://schemas.microsoft.com/office/powerpoint/2010/main" val="9047119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868F-A9FA-4B91-B500-0B339CFB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Teacher portal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A4AE2-5EC8-4828-8EDB-09796153C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75962" y="1619794"/>
            <a:ext cx="9314098" cy="4963883"/>
          </a:xfrm>
        </p:spPr>
      </p:pic>
    </p:spTree>
    <p:extLst>
      <p:ext uri="{BB962C8B-B14F-4D97-AF65-F5344CB8AC3E}">
        <p14:creationId xmlns:p14="http://schemas.microsoft.com/office/powerpoint/2010/main" val="28271400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868F-A9FA-4B91-B500-0B339CFB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Teacher portal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A4AE2-5EC8-4828-8EDB-09796153C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75962" y="1619794"/>
            <a:ext cx="9314098" cy="4963882"/>
          </a:xfrm>
        </p:spPr>
      </p:pic>
    </p:spTree>
    <p:extLst>
      <p:ext uri="{BB962C8B-B14F-4D97-AF65-F5344CB8AC3E}">
        <p14:creationId xmlns:p14="http://schemas.microsoft.com/office/powerpoint/2010/main" val="19153904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868F-A9FA-4B91-B500-0B339CFB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Teacher portal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A4AE2-5EC8-4828-8EDB-09796153C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75962" y="1619794"/>
            <a:ext cx="9314097" cy="4963882"/>
          </a:xfrm>
        </p:spPr>
      </p:pic>
    </p:spTree>
    <p:extLst>
      <p:ext uri="{BB962C8B-B14F-4D97-AF65-F5344CB8AC3E}">
        <p14:creationId xmlns:p14="http://schemas.microsoft.com/office/powerpoint/2010/main" val="37782553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868F-A9FA-4B91-B500-0B339CFB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Teacher portal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A4AE2-5EC8-4828-8EDB-09796153C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75962" y="1619794"/>
            <a:ext cx="9314097" cy="4963881"/>
          </a:xfrm>
        </p:spPr>
      </p:pic>
    </p:spTree>
    <p:extLst>
      <p:ext uri="{BB962C8B-B14F-4D97-AF65-F5344CB8AC3E}">
        <p14:creationId xmlns:p14="http://schemas.microsoft.com/office/powerpoint/2010/main" val="11159903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868F-A9FA-4B91-B500-0B339CFB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Teacher portal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A4AE2-5EC8-4828-8EDB-09796153C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75963" y="1619794"/>
            <a:ext cx="9314095" cy="4963881"/>
          </a:xfrm>
        </p:spPr>
      </p:pic>
    </p:spTree>
    <p:extLst>
      <p:ext uri="{BB962C8B-B14F-4D97-AF65-F5344CB8AC3E}">
        <p14:creationId xmlns:p14="http://schemas.microsoft.com/office/powerpoint/2010/main" val="33064841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868F-A9FA-4B91-B500-0B339CFB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Teacher portal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A4AE2-5EC8-4828-8EDB-09796153C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75963" y="1619794"/>
            <a:ext cx="9314095" cy="4963880"/>
          </a:xfrm>
        </p:spPr>
      </p:pic>
    </p:spTree>
    <p:extLst>
      <p:ext uri="{BB962C8B-B14F-4D97-AF65-F5344CB8AC3E}">
        <p14:creationId xmlns:p14="http://schemas.microsoft.com/office/powerpoint/2010/main" val="37222313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86F6C6-C42C-41B1-B652-85C2E7E89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492034"/>
            <a:ext cx="11362268" cy="3429000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THANK YOU!!!!!!!!!!!!!!!!!!!!!!!!!!!!!!!!!!!!!!!!!!!!!!!!!!!!!!!!!!!!!!!!!!!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C27D34-C9F7-49BF-85DE-725B957BB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770" y="4436532"/>
            <a:ext cx="9904459" cy="137159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75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41CBB0-BAA0-4983-8F2B-E10AF3358DA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E096F0E7-E7B5-406E-8E94-F0043B2AC7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4C6BCC-A38B-4625-90E6-7D3BBA3909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Circuit design</Template>
  <TotalTime>519</TotalTime>
  <Words>1121</Words>
  <Application>Microsoft Office PowerPoint</Application>
  <PresentationFormat>Widescreen</PresentationFormat>
  <Paragraphs>204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8" baseType="lpstr">
      <vt:lpstr>Arial</vt:lpstr>
      <vt:lpstr>Calibri</vt:lpstr>
      <vt:lpstr>Tw Cen MT</vt:lpstr>
      <vt:lpstr>Circuit</vt:lpstr>
      <vt:lpstr>STUDENT EXCUSE AND ABSENCE REQUEST MANAGEMENT SYSTEM</vt:lpstr>
      <vt:lpstr>STUDENT EXCUSE AND ABSENCE REQUEST MANAGEMENT SYSTEM</vt:lpstr>
      <vt:lpstr>PROJECT TEAM:</vt:lpstr>
      <vt:lpstr>PROJECT OVERVIEW</vt:lpstr>
      <vt:lpstr>PROJECT OVERVIEW</vt:lpstr>
      <vt:lpstr>PROJECT DESCRIPTION</vt:lpstr>
      <vt:lpstr>PROJECT DESCRIPTION</vt:lpstr>
      <vt:lpstr>SYSTEM DESIGN TO?</vt:lpstr>
      <vt:lpstr>PROBLEM STATEMENTS</vt:lpstr>
      <vt:lpstr>MANUAL SUBMISSION OF REQUEST</vt:lpstr>
      <vt:lpstr>THIS PROCESS CAN BE:</vt:lpstr>
      <vt:lpstr>PROPOSED SOLUTION #1:</vt:lpstr>
      <vt:lpstr>BENEFITS:</vt:lpstr>
      <vt:lpstr>DIFFICULTY IN MONITORING REQUEST STATUS:</vt:lpstr>
      <vt:lpstr>Proposed Solution #2</vt:lpstr>
      <vt:lpstr>UNORGANIZED AND INSECURE RECORDS </vt:lpstr>
      <vt:lpstr>Proposed Solution #</vt:lpstr>
      <vt:lpstr>Information Assurance and Security </vt:lpstr>
      <vt:lpstr>Information Assurance and Security:</vt:lpstr>
      <vt:lpstr>CONFIDENTIALITY:</vt:lpstr>
      <vt:lpstr>The system plans to use:</vt:lpstr>
      <vt:lpstr>INTEGRITY:</vt:lpstr>
      <vt:lpstr>Availability and Authentication:</vt:lpstr>
      <vt:lpstr> Non-Repudiation:</vt:lpstr>
      <vt:lpstr> Secure Coding Measures: </vt:lpstr>
      <vt:lpstr>SECURE CODING AND DEFENSIVE PROGRAMMING</vt:lpstr>
      <vt:lpstr> Defensive Programming Plan:</vt:lpstr>
      <vt:lpstr>Secure Coding Plan:</vt:lpstr>
      <vt:lpstr>Expected Benefits:</vt:lpstr>
      <vt:lpstr>Expected Benefits:</vt:lpstr>
      <vt:lpstr>Expected Benefits:</vt:lpstr>
      <vt:lpstr>Consclusion:</vt:lpstr>
      <vt:lpstr>Account login</vt:lpstr>
      <vt:lpstr>Account log in</vt:lpstr>
      <vt:lpstr>Account log in</vt:lpstr>
      <vt:lpstr>Student portal</vt:lpstr>
      <vt:lpstr>Student portal</vt:lpstr>
      <vt:lpstr>Student portal</vt:lpstr>
      <vt:lpstr>Student portal</vt:lpstr>
      <vt:lpstr>Student portal</vt:lpstr>
      <vt:lpstr>Student portal</vt:lpstr>
      <vt:lpstr>Student portal</vt:lpstr>
      <vt:lpstr>Student portal</vt:lpstr>
      <vt:lpstr>Student portal</vt:lpstr>
      <vt:lpstr>Teacher portal</vt:lpstr>
      <vt:lpstr>Teacher portal</vt:lpstr>
      <vt:lpstr>Teacher portal</vt:lpstr>
      <vt:lpstr>Teacher portal</vt:lpstr>
      <vt:lpstr>Teacher portal</vt:lpstr>
      <vt:lpstr>Teacher portal</vt:lpstr>
      <vt:lpstr>Teacher portal</vt:lpstr>
      <vt:lpstr>Teacher portal</vt:lpstr>
      <vt:lpstr>Teacher portal</vt:lpstr>
      <vt:lpstr>THANK YOU!!!!!!!!!!!!!!!!!!!!!!!!!!!!!!!!!!!!!!!!!!!!!!!!!!!!!!!!!!!!!!!!!!!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EXCUSE AND ABSENCE REQUEST MANAGEMENT SYSTEM</dc:title>
  <dc:creator>Administrator</dc:creator>
  <cp:lastModifiedBy>Administrator</cp:lastModifiedBy>
  <cp:revision>15</cp:revision>
  <dcterms:created xsi:type="dcterms:W3CDTF">2026-08-19T18:08:49Z</dcterms:created>
  <dcterms:modified xsi:type="dcterms:W3CDTF">2026-09-02T06:18:33Z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